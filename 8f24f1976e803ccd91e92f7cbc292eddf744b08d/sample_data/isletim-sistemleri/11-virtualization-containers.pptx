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Sanallaştırma ve Konteynerler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İşletim Sistemleri — Konu 11</a:t>
            </a:r>
          </a:p>
          <a:p>
            <a:r>
              <a:t>DOU-Synapse örnek ders materyali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Sanallaştırma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Sanallaştırma, tek bir fiziksel makinenin kaynaklarını birden çok yalıtılmış çalışma ortamına bölen tekniktir.</a:t>
            </a:r>
          </a:p>
          <a:p>
            <a:pPr/>
            <a:r>
              <a:rPr sz="1500"/>
              <a:t>Her ortam kendi işletim sistemini çalıştırdığını sanır; donanımı gerçekte bir yazılım katmanı sunar.</a:t>
            </a:r>
          </a:p>
          <a:p>
            <a:pPr/>
            <a:r>
              <a:rPr sz="1500"/>
              <a:t>Amaç üç başlıkta toplanır: kaynak kullanımını artırmak, arızayı yalıtmak, ortamı taşınabilir kılmak.</a:t>
            </a:r>
          </a:p>
          <a:p>
            <a:pPr/>
            <a:r>
              <a:rPr sz="1500"/>
              <a:t>Bir sunucunun ortalama CPU kullanımı yüzde onlarda kalırken, aynı donanımda on sanal makine çalıştırmak israfı doğrudan azaltır.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Hipervizör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Hipervizör (hypervisor / VMM), sanal makineleri oluşturan ve yöneten yazılım katmanıdır.</a:t>
            </a:r>
          </a:p>
          <a:p>
            <a:pPr/>
            <a:r>
              <a:rPr sz="1500"/>
              <a:t>Konuk (guest) işletim sistemlerinin ayrıcalıklı komutlarını yakalar ve onlar adına gerçek donanıma çevirir.</a:t>
            </a:r>
          </a:p>
          <a:p>
            <a:pPr/>
            <a:r>
              <a:rPr sz="1500"/>
              <a:t>Konuk, kendisinin çekirdek modunda olduğunu sanır; gerçekte hipervizörün denetiminde bir kullanıcı seviyesinde koşar.</a:t>
            </a:r>
          </a:p>
          <a:p>
            <a:pPr/>
            <a:r>
              <a:rPr sz="1500"/>
              <a:t>Bu yakalama-ve-taklit etme (trap and emulate) mekanizması sanallaştırmanın temelidir.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1 ve Tip 2 Hipervizörler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Tip 1 (bare-metal): doğrudan donanım üzerinde çalışır, altında bir işletim sistemi yoktur. Örnekler: Xen, VMware ESXi, Microsoft Hyper-V.</a:t>
            </a:r>
          </a:p>
          <a:p>
            <a:pPr/>
            <a:r>
              <a:rPr sz="1500"/>
              <a:t>Tip 2 (hosted): bir ana işletim sistemi üzerinde sıradan bir uygulama gibi çalışır. Örnekler: VirtualBox, VMware Workstation, QEMU.</a:t>
            </a:r>
          </a:p>
          <a:p>
            <a:pPr/>
            <a:r>
              <a:rPr sz="1500"/>
              <a:t>Tip 1 daha az katman geçtiği için daha hızlıdır ve saldırı yüzeyi daha dardır; veri merkezlerinde tercih edilir.</a:t>
            </a:r>
          </a:p>
          <a:p>
            <a:pPr/>
            <a:r>
              <a:rPr sz="1500"/>
              <a:t>Tip 2 kurulumu kolaydır ve masaüstünde geliştirme/test için uygundur.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Sanallaştırma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Konuk işletim sistemi hiç değiştirilmez; kendisinin sanallaştırıldığını bilmez.</a:t>
            </a:r>
          </a:p>
          <a:p>
            <a:pPr/>
            <a:r>
              <a:rPr sz="1500"/>
              <a:t>Ayrıcalıklı komutlar hipervizör tarafından yakalanır ve taklit edilir.</a:t>
            </a:r>
          </a:p>
          <a:p>
            <a:pPr/>
            <a:r>
              <a:rPr sz="1500"/>
              <a:t>Avantajı, değiştirilemeyen kapalı kaynak işletim sistemlerinin de çalıştırılabilmesidir.</a:t>
            </a:r>
          </a:p>
          <a:p>
            <a:pPr/>
            <a:r>
              <a:rPr sz="1500"/>
              <a:t>Bedeli, her yakalamanın bir bağlam değiştirme maliyeti getirmesidir.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Konuk işletim sistemi, sanallaştırıldığını bilecek şekilde değiştirilir.</a:t>
            </a:r>
          </a:p>
          <a:p>
            <a:pPr/>
            <a:r>
              <a:rPr sz="1500"/>
              <a:t>Ayrıcalıklı işlemler için donanım komutu yerine hipervizöre doğrudan çağrı (hypercall) yapılır.</a:t>
            </a:r>
          </a:p>
          <a:p>
            <a:pPr/>
            <a:r>
              <a:rPr sz="1500"/>
              <a:t>Yakalama maliyeti ortadan kalktığı için başarım tam sanallaştırmaya göre yüksektir.</a:t>
            </a:r>
          </a:p>
          <a:p>
            <a:pPr/>
            <a:r>
              <a:rPr sz="1500"/>
              <a:t>Kısıtı açıktır: çekirdeği değiştirilemeyen bir işletim sistemi bu yöntemle çalıştırılamaz.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Donanım Destekli Sanallaştırma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Intel VT-x ve AMD-V, işlemciye kök (root) ve kök olmayan (non-root) diye yeni bir çalışma kipi ekler.</a:t>
            </a:r>
          </a:p>
          <a:p>
            <a:pPr/>
            <a:r>
              <a:rPr sz="1500"/>
              <a:t>Konuk çekirdeği kendi ayrıcalık halkasında koşabilir; ayrıcalıklı komutlar donanım tarafından hipervizöre yönlendirilir.</a:t>
            </a:r>
          </a:p>
          <a:p>
            <a:pPr/>
            <a:r>
              <a:rPr sz="1500"/>
              <a:t>Genişletilmiş sayfa tabloları (EPT / NPT) konuk sanal adresini doğrudan ana makine fiziksel adresine çevirir.</a:t>
            </a:r>
          </a:p>
          <a:p>
            <a:pPr/>
            <a:r>
              <a:rPr sz="1500"/>
              <a:t>Bu destek sayesinde tam sanallaştırma, paravirtualization'a yakın başarım verir ve yazılımsal ikili çeviriye gerek kalmaz.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Bellek Sanallaştırma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İki kat çeviri vardır: konuk sanal adresi, konuk fiziksel adresi ve ana makine fiziksel adresi.</a:t>
            </a:r>
          </a:p>
          <a:p>
            <a:pPr/>
            <a:r>
              <a:rPr sz="1500"/>
              <a:t>Gölge sayfa tabloları (shadow page tables) bu iki katı yazılımla tek bir tabloda birleştirir; güncelleme maliyeti yüksektir.</a:t>
            </a:r>
          </a:p>
          <a:p>
            <a:pPr/>
            <a:r>
              <a:rPr sz="1500"/>
              <a:t>Genişletilmiş sayfa tabloları aynı işi donanımda yapar ve gölge tabloya olan ihtiyacı ortadan kaldırır.</a:t>
            </a:r>
          </a:p>
          <a:p>
            <a:pPr/>
            <a:r>
              <a:rPr sz="1500"/>
              <a:t>Bellek şişirme (ballooning) tekniğinde konuğa yüklenen bir sürücü bellek talep ederek kullanılmayan sayfaların ana makineye geri verilmesini sağlar.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Konteyner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Konteyner, aynı çekirdeği paylaşan yalıtılmış bir kullanıcı alanı (user space) örneğidir.</a:t>
            </a:r>
          </a:p>
          <a:p>
            <a:pPr/>
            <a:r>
              <a:rPr sz="1500"/>
              <a:t>Sanal makineden farkı, kendi işletim sistemi çekirdeğini çalıştırmamasıdır.</a:t>
            </a:r>
          </a:p>
          <a:p>
            <a:pPr/>
            <a:r>
              <a:rPr sz="1500"/>
              <a:t>Başlatma süresi milisaniyeler mertebesindedir; sanal makinede bu süre saniyelerle ölçülür.</a:t>
            </a:r>
          </a:p>
          <a:p>
            <a:pPr/>
            <a:r>
              <a:rPr sz="1500"/>
              <a:t>Bellek ayak izi çok küçüktür çünkü çekirdek, sürücüler ve önbellek paylaşılır.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Namespace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Namespace, bir sürecin sistemin hangi bölümünü görebileceğini kısıtlayan çekirdek mekanizmasıdır.</a:t>
            </a:r>
          </a:p>
          <a:p>
            <a:pPr/>
            <a:r>
              <a:rPr sz="1500"/>
              <a:t>PID namespace: konteyner içindeki ilk süreç kendini PID 1 olarak görür, dışarıdaki süreçleri göremez.</a:t>
            </a:r>
          </a:p>
          <a:p>
            <a:pPr/>
            <a:r>
              <a:rPr sz="1500"/>
              <a:t>Mount namespace: konteynerin kendi dosya sistemi görünümü olur.</a:t>
            </a:r>
          </a:p>
          <a:p>
            <a:pPr/>
            <a:r>
              <a:rPr sz="1500"/>
              <a:t>Network namespace: kendi ağ arayüzleri, IP adresi ve yönlendirme tablosu.</a:t>
            </a:r>
          </a:p>
          <a:p>
            <a:pPr/>
            <a:r>
              <a:rPr sz="1500"/>
              <a:t>UTS, IPC ve user namespace'leri sırasıyla makine adını, süreçler arası iletişim nesnelerini ve kullanıcı kimliği eşlemesini yalıtır.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cgroups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Control groups, bir süreç kümesinin tüketebileceği kaynağı ölçer ve sınırlar.</a:t>
            </a:r>
          </a:p>
          <a:p>
            <a:pPr/>
            <a:r>
              <a:rPr sz="1500"/>
              <a:t>Sınırlanabilen kaynaklar: CPU payı, bellek, blok aygıt bant genişliği, PID sayısı.</a:t>
            </a:r>
          </a:p>
          <a:p>
            <a:pPr/>
            <a:r>
              <a:rPr sz="1500"/>
              <a:t>Namespace görünürlüğü kısıtlar, cgroup ise miktarı kısıtlar; ikisi farklı sorunları çözer ve birlikte kullanılır.</a:t>
            </a:r>
          </a:p>
          <a:p>
            <a:pPr/>
            <a:r>
              <a:rPr sz="1500"/>
              <a:t>Bellek sınırını aşan bir konteyner, ana makineyi etkilemek yerine kendi içinde OOM killer tarafından sonlandırılır.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Konteyner İmajı ve Katmanlar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İmaj, salt okunur katmanların üst üste bindirilmesiyle oluşur; her katman bir önceki üzerindeki değişikliği tutar.</a:t>
            </a:r>
          </a:p>
          <a:p>
            <a:pPr/>
            <a:r>
              <a:rPr sz="1500"/>
              <a:t>Çalışan konteynere yalnız en üstte ince bir yazılabilir katman eklenir.</a:t>
            </a:r>
          </a:p>
          <a:p>
            <a:pPr/>
            <a:r>
              <a:rPr sz="1500"/>
              <a:t>Yazma sırasında dosya alt katmandan üst katmana kopyalanır; bu davranışa copy-on-write denir.</a:t>
            </a:r>
          </a:p>
          <a:p>
            <a:pPr/>
            <a:r>
              <a:rPr sz="1500"/>
              <a:t>Aynı taban katmanı paylaşan yüz konteyner diskte tek kopya tutar; imajların küçük görünmesinin sebebi budur.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Konteyner ile Sanal Makine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| Ölçüt | Sanal makine | Konteyner |</a:t>
            </a:r>
          </a:p>
          <a:p>
            <a:pPr/>
            <a:r>
              <a:rPr sz="1500"/>
              <a:t>|---|---|---|</a:t>
            </a:r>
          </a:p>
          <a:p>
            <a:pPr/>
            <a:r>
              <a:rPr sz="1500"/>
              <a:t>| Çekirdek | Her VM kendi çekirdeği | Ana makine çekirdeği paylaşılır |</a:t>
            </a:r>
          </a:p>
          <a:p>
            <a:pPr/>
            <a:r>
              <a:rPr sz="1500"/>
              <a:t>| Başlatma | Saniyeler | Milisaniyeler |</a:t>
            </a:r>
          </a:p>
          <a:p>
            <a:pPr/>
            <a:r>
              <a:rPr sz="1500"/>
              <a:t>| Yalıtım | Donanım seviyesinde, güçlü | Çekirdek seviyesinde, daha zayıf |</a:t>
            </a:r>
          </a:p>
          <a:p>
            <a:pPr/>
            <a:r>
              <a:rPr sz="1500"/>
              <a:t>| Farklı işletim sistemi | Çalıştırılabilir | Çalıştırılamaz |</a:t>
            </a:r>
          </a:p>
          <a:p>
            <a:pPr/>
            <a:r>
              <a:rPr sz="1500"/>
              <a:t>| Bellek maliyeti | Yüzlerce MB | Onlarca MB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Yalıtım Neden Daha Zayıf?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Tüm konteynerler aynı çekirdeği kullanır; çekirdekteki bir açık tüm konteynerleri etkiler.</a:t>
            </a:r>
          </a:p>
          <a:p>
            <a:pPr/>
            <a:r>
              <a:rPr sz="1500"/>
              <a:t>Konteynerden çekirdeğe kaçış (container escape) açıkları, sanal makine kaçışlarından daha sık görülür.</a:t>
            </a:r>
          </a:p>
          <a:p>
            <a:pPr/>
            <a:r>
              <a:rPr sz="1500"/>
              <a:t>Ayrıcalıklı (privileged) modda çalıştırılan bir konteyner yalıtımın büyük kısmını devre dışı bırakır.</a:t>
            </a:r>
          </a:p>
          <a:p>
            <a:pPr/>
            <a:r>
              <a:rPr sz="1500"/>
              <a:t>Seccomp, AppArmor ve SELinux profilleri konteynerin yapabileceği sistem çağrılarını daraltarak bu riski azaltır.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Güvenli Konteyner Yapılandırması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Konteyneri root olmayan bir kullanıcıyla çalıştırın; imajda bir kullanıcı tanımlayın.</a:t>
            </a:r>
          </a:p>
          <a:p>
            <a:pPr/>
            <a:r>
              <a:rPr sz="1500"/>
              <a:t>Kök dosya sistemini salt okunur bağlayın, yazma gereken yerler için ayrı birim tanımlayın.</a:t>
            </a:r>
          </a:p>
          <a:p>
            <a:pPr/>
            <a:r>
              <a:rPr sz="1500"/>
              <a:t>Gereksiz Linux capability'lerini düşürün; varsayılan küme çoğu uygulama için fazla geniştir.</a:t>
            </a:r>
          </a:p>
          <a:p>
            <a:pPr/>
            <a:r>
              <a:rPr sz="1500"/>
              <a:t>Ana makine dizinlerini konteynere bağlarken en dar yolu seçin; Docker soketini konteynere bağlamak, ana makinede root yetkisi vermekle eşdeğerdir.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Mikro Sanal Makineler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Konteynerin hızını ve sanal makinenin yalıtımını birleştirmeyi hedefleyen ara çözümdür.</a:t>
            </a:r>
          </a:p>
          <a:p>
            <a:pPr/>
            <a:r>
              <a:rPr sz="1500"/>
              <a:t>Firecracker ve Kata Containers bu yaklaşımın örnekleridir.</a:t>
            </a:r>
          </a:p>
          <a:p>
            <a:pPr/>
            <a:r>
              <a:rPr sz="1500"/>
              <a:t>Aygıt modeli bilinçli olarak küçültülür; yalnız birkaç sanal aygıt sunulur ve saldırı yüzeyi daralır.</a:t>
            </a:r>
          </a:p>
          <a:p>
            <a:pPr/>
            <a:r>
              <a:rPr sz="1500"/>
              <a:t>Başlatma süresi yüz milisaniyenin altına iner; çok kiracılı (multi-tenant) sunucusuz platformlarda kullanılır.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Sanallaştırmanın Maliyeti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CPU üzerinde donanım desteğiyle ek yük genelde yüzde birkaçtır.</a:t>
            </a:r>
          </a:p>
          <a:p>
            <a:pPr/>
            <a:r>
              <a:rPr sz="1500"/>
              <a:t>Asıl maliyet giriş/çıkışta ortaya çıkar: her sanal aygıt erişimi bir çıkış (VM exit) üretebilir.</a:t>
            </a:r>
          </a:p>
          <a:p>
            <a:pPr/>
            <a:r>
              <a:rPr sz="1500"/>
              <a:t>Yarı sanallaştırılmış sürücüler (virtio) bu maliyeti düşürmek için tasarlanmıştır.</a:t>
            </a:r>
          </a:p>
          <a:p>
            <a:pPr/>
            <a:r>
              <a:rPr sz="1500"/>
              <a:t>Aygıt geçişi (PCI passthrough) bir donanımı doğrudan konuğa verir; başarım en yüksek olur ama makineler arası taşıma (migration) zorlaşır.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Canlı Göç (Live Migration)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Çalışan bir sanal makineyi durdurmadan başka bir fiziksel sunucuya taşımaktır.</a:t>
            </a:r>
          </a:p>
          <a:p>
            <a:pPr/>
            <a:r>
              <a:rPr sz="1500"/>
              <a:t>Ön kopyalama (pre-copy) yönteminde bellek sayfaları çalışırken kopyalanır, değişen sayfalar tekrar gönderilir.</a:t>
            </a:r>
          </a:p>
          <a:p>
            <a:pPr/>
            <a:r>
              <a:rPr sz="1500"/>
              <a:t>Kalan sayfa sayısı yeterince azaldığında makine kısa süre durdurulur ve son sayfalarla birlikte devredilir.</a:t>
            </a:r>
          </a:p>
          <a:p>
            <a:pPr/>
            <a:r>
              <a:rPr sz="1500"/>
              <a:t>Durma süresi tipik olarak yüz milisaniyenin altındadır; bakım için sunucu boşaltmayı mümkün kılar.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500"/>
              <a:t>Sanallaştırma donanımı, konteynerleştirme ise işletim sistemini bölerek yalıtım sağlar.</a:t>
            </a:r>
          </a:p>
          <a:p>
            <a:pPr/>
            <a:r>
              <a:rPr sz="1500"/>
              <a:t>Hipervizör konuk çekirdeğin ayrıcalıklı komutlarını yakalar; donanım desteği bu yakalamayı ucuzlatır.</a:t>
            </a:r>
          </a:p>
          <a:p>
            <a:pPr/>
            <a:r>
              <a:rPr sz="1500"/>
              <a:t>Konteynerin yalıtımı namespace ve cgroups mekanizmalarına dayanır ve çekirdek paylaşıldığı için daha zayıftır.</a:t>
            </a:r>
          </a:p>
          <a:p>
            <a:pPr/>
            <a:r>
              <a:rPr sz="1500"/>
              <a:t>Doğru seçim iş yüküne bağlıdır: farklı işletim sistemi ve güçlü yalıtım gerekiyorsa sanal makine, yoğunluk ve hız gerekiyorsa konteyner.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Sanallaştırma ve Konteynerler</dc:title>
  <dc:subject>İşletim Sistemleri — Konu 11</dc:subject>
  <dc:creator>DOU-Synapse takımı</dc:creator>
  <cp:keywords/>
  <dc:description>sample_data/generate_material.py ile üretildi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